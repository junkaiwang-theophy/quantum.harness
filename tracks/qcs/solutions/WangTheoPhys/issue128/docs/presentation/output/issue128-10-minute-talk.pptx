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5471de4a024128" /><Relationship Type="http://schemas.openxmlformats.org/officeDocument/2006/relationships/extended-properties" Target="/docProps/app.xml" Id="R87e27f05a91946db" /><Relationship Type="http://schemas.openxmlformats.org/officeDocument/2006/relationships/officeDocument" Target="/ppt/presentation.xml" Id="Rd762cd6507b3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52c27e28754904"/>
  </p:sldMasterIdLst>
  <p:notesMasterIdLst>
    <p:notesMasterId xmlns:r="http://schemas.openxmlformats.org/officeDocument/2006/relationships" r:id="R5806990d09a24caf"/>
  </p:notesMasterIdLst>
  <p:sldIdLst>
    <p:sldId xmlns:r="http://schemas.openxmlformats.org/officeDocument/2006/relationships" id="256" r:id="Racfca5efe1f94d88"/>
    <p:sldId xmlns:r="http://schemas.openxmlformats.org/officeDocument/2006/relationships" id="257" r:id="R30f413b1ec184f03"/>
    <p:sldId xmlns:r="http://schemas.openxmlformats.org/officeDocument/2006/relationships" id="258" r:id="Rfc5a35686bc94da3"/>
    <p:sldId xmlns:r="http://schemas.openxmlformats.org/officeDocument/2006/relationships" id="259" r:id="Re3c1ad1de51c4799"/>
    <p:sldId xmlns:r="http://schemas.openxmlformats.org/officeDocument/2006/relationships" id="260" r:id="R796408e27f6848c3"/>
    <p:sldId xmlns:r="http://schemas.openxmlformats.org/officeDocument/2006/relationships" id="261" r:id="R5055e6be142749be"/>
    <p:sldId xmlns:r="http://schemas.openxmlformats.org/officeDocument/2006/relationships" id="262" r:id="R59d0752749d74adf"/>
    <p:sldId xmlns:r="http://schemas.openxmlformats.org/officeDocument/2006/relationships" id="263" r:id="R8455185306aa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d4cadaf4d403d" /><Relationship Type="http://schemas.openxmlformats.org/officeDocument/2006/relationships/slideMaster" Target="/ppt/slideMasters/slideMaster1.xml" Id="Rd252c27e28754904" /><Relationship Type="http://schemas.openxmlformats.org/officeDocument/2006/relationships/notesMaster" Target="/ppt/notesMasters/notesMaster1.xml" Id="R5806990d09a24caf" /><Relationship Type="http://schemas.openxmlformats.org/officeDocument/2006/relationships/presProps" Target="/ppt/presProps.xml" Id="Rd5298e3359aa4da0" /><Relationship Type="http://schemas.openxmlformats.org/officeDocument/2006/relationships/tableStyles" Target="/ppt/tableStyles.xml" Id="R5153880222344b7f" /><Relationship Type="http://schemas.openxmlformats.org/officeDocument/2006/relationships/slide" Target="/ppt/slides/slide1.xml" Id="Racfca5efe1f94d88" /><Relationship Type="http://schemas.openxmlformats.org/officeDocument/2006/relationships/slide" Target="/ppt/slides/slide2.xml" Id="R30f413b1ec184f03" /><Relationship Type="http://schemas.openxmlformats.org/officeDocument/2006/relationships/slide" Target="/ppt/slides/slide3.xml" Id="Rfc5a35686bc94da3" /><Relationship Type="http://schemas.openxmlformats.org/officeDocument/2006/relationships/slide" Target="/ppt/slides/slide4.xml" Id="Re3c1ad1de51c4799" /><Relationship Type="http://schemas.openxmlformats.org/officeDocument/2006/relationships/slide" Target="/ppt/slides/slide5.xml" Id="R796408e27f6848c3" /><Relationship Type="http://schemas.openxmlformats.org/officeDocument/2006/relationships/slide" Target="/ppt/slides/slide6.xml" Id="R5055e6be142749be" /><Relationship Type="http://schemas.openxmlformats.org/officeDocument/2006/relationships/slide" Target="/ppt/slides/slide7.xml" Id="R59d0752749d74adf" /><Relationship Type="http://schemas.openxmlformats.org/officeDocument/2006/relationships/slide" Target="/ppt/slides/slide8.xml" Id="R8455185306aa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60801f303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56813ea4694d18" /><Relationship Type="http://schemas.openxmlformats.org/officeDocument/2006/relationships/notesMaster" Target="/ppt/notesMasters/notesMaster1.xml" Id="R69e1abc6a7ff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3dbc4497ee479c" /><Relationship Type="http://schemas.openxmlformats.org/officeDocument/2006/relationships/notesMaster" Target="/ppt/notesMasters/notesMaster1.xml" Id="Rb7435136a84c4d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08c2f02b34a69" /><Relationship Type="http://schemas.openxmlformats.org/officeDocument/2006/relationships/notesMaster" Target="/ppt/notesMasters/notesMaster1.xml" Id="Rf459c2dd76b44a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49161fdd74486" /><Relationship Type="http://schemas.openxmlformats.org/officeDocument/2006/relationships/notesMaster" Target="/ppt/notesMasters/notesMaster1.xml" Id="Ra235894cbe7645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cc244ef57d4fb2" /><Relationship Type="http://schemas.openxmlformats.org/officeDocument/2006/relationships/notesMaster" Target="/ppt/notesMasters/notesMaster1.xml" Id="R5e64e5d80df644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501159e00847ae" /><Relationship Type="http://schemas.openxmlformats.org/officeDocument/2006/relationships/notesMaster" Target="/ppt/notesMasters/notesMaster1.xml" Id="Rde132e12b1c849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0fe596189c4575" /><Relationship Type="http://schemas.openxmlformats.org/officeDocument/2006/relationships/notesMaster" Target="/ppt/notesMasters/notesMaster1.xml" Id="Rc59ae92db81149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f3d7755660483f" /><Relationship Type="http://schemas.openxmlformats.org/officeDocument/2006/relationships/notesMaster" Target="/ppt/notesMasters/notesMaster1.xml" Id="Re57d58269118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0:00–0:40。开门见山：同一 Hamiltonian、同一四阶 Suzuki、同一成本口径。机器证书接受 95 步并拒绝 94 步，主资源精确比为 11791/2851。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certificates/issue128-d5-integrated-certificate.json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0:40–1:35。强调公平性：没有通过换模型、换容差、换公式或换门数定义得到倍率。资源公式 G(r)=30r+1 在两边一致。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certificates/issue128-d5-integrated-certificate.json</a:t>
            </a:r>
          </a:p>
          <a:p xmlns:a="http://schemas.openxmlformats.org/drawingml/2006/main">
            <a:r>
              <a:t>- https://github.com/QuantumBFS/quantum.harness/issues/128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1:35–2:35。解释核心思想：不是把同一个程序跑快，而是把三角不等式推迟到具体 Pauli 合并之后。搜索只提议分组，verifier 决定是否接受。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docs/report/issue128-d5-integrated-note.md</a:t>
            </a:r>
          </a:p>
          <a:p xmlns:a="http://schemas.openxmlformats.org/drawingml/2006/main">
            <a:r>
              <a:t>- certificates/issue128-d4-groups.json</a:t>
            </a:r>
          </a:p>
          <a:p xmlns:a="http://schemas.openxmlformats.org/drawingml/2006/main">
            <a:r>
              <a:t>- certificates/issue128-d5-groups.json.gz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2:35–4:15。D4 与 D5 是两层独立 sidecar。逐项说明 verifier 检查哈希、规范编码、覆盖、无重复、同支撑、每一对反对易关系以及向外平方根界。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certificates/issue128-d4-groups.json</a:t>
            </a:r>
          </a:p>
          <a:p xmlns:a="http://schemas.openxmlformats.org/drawingml/2006/main">
            <a:r>
              <a:t>- certificates/issue128-d5-groups.json.gz</a:t>
            </a:r>
          </a:p>
          <a:p xmlns:a="http://schemas.openxmlformats.org/drawingml/2006/main">
            <a:r>
              <a:t>- artifacts/d5-integrated/verification-transcript.txt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4:15–5:35。逐行快速扫过误差账本。最重要的是 95 与 94 使用同一个精确有理误差函数；尾项没有被删掉。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certificates/issue128-d5-integrated-certificate.json</a:t>
            </a:r>
          </a:p>
          <a:p xmlns:a="http://schemas.openxmlformats.org/drawingml/2006/main">
            <a:r>
              <a:t>- docs/report/issue128-d5-integrated-note.md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5:35–6:45。主倍率必须报资源整数比，不用四舍五入后的步数比替代。相对控制，bond propagator 少 643,680，CNOT 上界少 1,931,040。图中以控制为 100 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certificates/issue128-d5-integrated-certificate.json</a:t>
            </a:r>
          </a:p>
          <a:p xmlns:a="http://schemas.openxmlformats.org/drawingml/2006/main">
            <a:r>
              <a:t>- docs/report/issue128-d5-integrated-note.md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6:45–8:15。现场只跑 fast verifier；deep 结果预先展示。明确 fast 的 deep_proof_regenerated=false 是预期行为，不是失败。干净克隆复核也已通过。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artifacts/d5-integrated/verification-transcript.txt</a:t>
            </a:r>
          </a:p>
          <a:p xmlns:a="http://schemas.openxmlformats.org/drawingml/2006/main">
            <a:r>
              <a:t>- artifacts/d5-integrated/SHA256SUMS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8:15–10:00。收束：成果是一条会拒绝错误的证据链，而不是一个看起来更小的数。五倍要求 r≤78，但当前 D4 单项已超过总容差，所以明确不宣称五倍。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certificates/issue128-d5-integrated-certificate.json</a:t>
            </a:r>
          </a:p>
          <a:p xmlns:a="http://schemas.openxmlformats.org/drawingml/2006/main">
            <a:r>
              <a:t>- docs/report/issue128-d5-integrated-note.md</a:t>
            </a:r>
          </a:p>
          <a:p xmlns:a="http://schemas.openxmlformats.org/drawingml/2006/main">
            <a:r>
              <a:t>- https://github.com/QuantumBFS/quantum.harness/pull/248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49d6379ee44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caa95721694594" /><Relationship Type="http://schemas.openxmlformats.org/officeDocument/2006/relationships/slideLayout" Target="/ppt/slideLayouts/slideLayout1.xml" Id="R373b7b96cc25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b7b96cc25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dd242baa42c5" /><Relationship Type="http://schemas.openxmlformats.org/officeDocument/2006/relationships/notesSlide" Target="/ppt/notesSlides/notesSlide1.xml" Id="R93a954366b06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471072ebe40ec" /><Relationship Type="http://schemas.openxmlformats.org/officeDocument/2006/relationships/notesSlide" Target="/ppt/notesSlides/notesSlide2.xml" Id="Rde4ad82f1d4548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d674109874c21" /><Relationship Type="http://schemas.openxmlformats.org/officeDocument/2006/relationships/notesSlide" Target="/ppt/notesSlides/notesSlide3.xml" Id="R80aad44f3cd64c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6722a39294de1" /><Relationship Type="http://schemas.openxmlformats.org/officeDocument/2006/relationships/notesSlide" Target="/ppt/notesSlides/notesSlide4.xml" Id="Rfad8b32e8ea741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962b6067478a" /><Relationship Type="http://schemas.openxmlformats.org/officeDocument/2006/relationships/notesSlide" Target="/ppt/notesSlides/notesSlide5.xml" Id="R82a3503fa01f4b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a239fc9cd4c22" /><Relationship Type="http://schemas.openxmlformats.org/officeDocument/2006/relationships/chart" Target="/ppt/slides/charts/chart1.xml" Id="Reb96db3c34c3430a" /><Relationship Type="http://schemas.openxmlformats.org/officeDocument/2006/relationships/notesSlide" Target="/ppt/notesSlides/notesSlide6.xml" Id="R3711e883b13441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29b4bffe545c8" /><Relationship Type="http://schemas.openxmlformats.org/officeDocument/2006/relationships/notesSlide" Target="/ppt/notesSlides/notesSlide7.xml" Id="Rbb99b8b407a3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09afc6e294cf4" /><Relationship Type="http://schemas.openxmlformats.org/officeDocument/2006/relationships/notesSlide" Target="/ppt/notesSlides/notesSlide8.xml" Id="R73b4610837594a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Published control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Steps</c:v>
              </c:pt>
              <c:pt idx="1">
                <c:v>Groups</c:v>
              </c:pt>
              <c:pt idx="2">
                <c:v>Bond props</c:v>
              </c:pt>
              <c:pt idx="3">
                <c:v>CNOT upper</c:v>
              </c:pt>
            </c:strLit>
          </c:cat>
          <c:val>
            <c:numLit>
              <c:formatCode>0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ser>
          <c:idx val="1"/>
          <c:order val="1"/>
          <c:tx>
            <c:v>D5-integrated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Steps</c:v>
              </c:pt>
              <c:pt idx="1">
                <c:v>Groups</c:v>
              </c:pt>
              <c:pt idx="2">
                <c:v>Bond props</c:v>
              </c:pt>
              <c:pt idx="3">
                <c:v>CNOT upper</c:v>
              </c:pt>
            </c:strLit>
          </c:cat>
          <c:val>
            <c:numLit>
              <c:formatCode>0</c:formatCode>
              <c:ptCount val="4"/>
              <c:pt idx="0">
                <c:v>24.17</c:v>
              </c:pt>
              <c:pt idx="1">
                <c:v>24.18</c:v>
              </c:pt>
              <c:pt idx="2">
                <c:v>24.18</c:v>
              </c:pt>
              <c:pt idx="3">
                <c:v>24.18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979A76D-24A6-4E3C-866E-1A39A8BF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4.1357418449×
resource reduction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BCF5245-F86F-4D3C-A179-7258D13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393 → 95 steps
11,791 → 2,851 merged groups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4DE2BEF-FC9A-4E82-AD82-847393AC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ISSUE 128 · MACHINE-CERTIFIED</a:t>
            </a:r>
          </a:p>
        </p:txBody>
      </p:sp>
    </p:spTree>
    <p:extLst>
      <p:ext uri="{BB962C8B-B14F-4D97-AF65-F5344CB8AC3E}">
        <p14:creationId xmlns:p14="http://schemas.microsoft.com/office/powerpoint/2010/main" val="13163979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8D6E4C7-E3DA-4078-BBC6-FA25E6C7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EA4D698-9943-4AA2-9D43-151B3304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problem. Same circuit. Tighter proof.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4F063BF-ABDD-492E-9A9F-FCF8A7F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Pinned comparison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physical and compilation choice is held fixed; only the proof is tightened.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050" b="1"/>
                        <a:t>Constraint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Published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Certified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Same?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Evidence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Heisenberg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Heisenberg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(XX+YY+ZZ)/4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Lattice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12×12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12×12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periodic, N=144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T=1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T=1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exact rational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Tolerance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1e−6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1e−6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operator norm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Formula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Suzuki-4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Suzuki-4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five-copy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Per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31 stages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31 stages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four matchings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Merge rule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30r+1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30r+1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same compiler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Steps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393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proof tightened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3648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AC97674-8531-4AA4-A05F-B3A55923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A158765-7129-48AC-B822-483A218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gain comes from delaying norm inequalities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4D684F1-FF08-4EA4-B05E-6E7E37F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F881E74-F75E-4475-AA3A-FB0C4B78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CC5008F-9801-4058-8F8D-C2619A9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BA66B47-1200-49AC-9CCE-62591ACC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 PROOF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98D779C-CAFD-46BD-A938-E6553F03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LOG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EF37066-F19A-4B09-9562-D88FF982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CERTIFY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CA54B07-722F-44C7-9610-D8C1F027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Merge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exact algebra, canonicalize translations, combine equal Paulis.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E829876-9144-413D-BC22-8C308DF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early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Take absolute values term by term; cancellations disappear.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6368BBC-878C-45F9-BF7D-923388A4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 rigorously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Anticommuting groups plus an outward rational tail.</a:t>
            </a:r>
          </a:p>
        </p:txBody>
      </p:sp>
    </p:spTree>
    <p:extLst>
      <p:ext uri="{BB962C8B-B14F-4D97-AF65-F5344CB8AC3E}">
        <p14:creationId xmlns:p14="http://schemas.microsoft.com/office/powerpoint/2010/main" val="1755942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5149E69-725E-49E0-8599-CFB3A06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4A112F0-607B-414D-9613-2909824B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E5FC808-98A0-4E0D-BFA9-AA036F5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F281B25-2A95-425E-B593-CB19A58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F604333-2E1D-42FA-B164-9FACDD08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Pauli sidecars carry the tightening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B15BA9A-AF05-4B0F-99D2-85E7CB93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D4 terms
7,576 groups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87EA822-B5F4-4A41-A699-EA4E742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maximum
group size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C2359A5-1DA0-42D6-B8C7-42CFDDF9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D5 terms
123,106 groups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522AAFB-DCE3-4FBD-A9E1-A6E1650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75,324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7571A5C-30F4-4F55-91AB-3B5C6D06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605,832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1DBE4B1-3B8F-4446-AEDA-92590D5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≤ 10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356F2D6-A6A0-44BB-ACA3-83A5748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Proof-carrying objects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payload is SHA-256-bound; coverage, support and pairwise anticommutation are independently checked.</a:t>
            </a:r>
          </a:p>
        </p:txBody>
      </p:sp>
    </p:spTree>
    <p:extLst>
      <p:ext uri="{BB962C8B-B14F-4D97-AF65-F5344CB8AC3E}">
        <p14:creationId xmlns:p14="http://schemas.microsoft.com/office/powerpoint/2010/main" val="19560947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138C49-AEC3-4317-BBAC-F6CC2912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BA320E-780A-4EC4-AA08-541AFBCF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95 passes; 94 fails under the same exact ledger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FD9E125-9690-407E-980E-C1C38205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Exact-rational decision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Displayed decimals are outward-readable projections; acceptance uses integer cross-multiplication.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975" b="1"/>
                        <a:t>Ledger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/>
                        <a:t>r=95 upper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/>
                        <a:t>Scale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/>
                        <a:t>Trust object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/>
                        <a:t>Status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D4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5.7218801e−7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r⁻⁴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grouped sidecar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checked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D5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3.4853485e−8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r⁻⁵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grouped sidecar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checked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D6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1.7893141e−7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r⁻⁶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majorant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checked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D7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2.1921361e−8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r⁻⁷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majorant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checked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D8+ tail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1.8255488e−7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finite tail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rational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checked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TOTAL @95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9.9044914e−7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≤ 1e−6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exact sum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PASS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TOTAL @94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1.0468061e−6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&gt; 1e−6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same function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FAIL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/>
                        <a:t>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95 minimal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adjacent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verifier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/>
                        <a:t>CLOSED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157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AC14474-FB36-4417-B7BD-CC0F20E3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C924599-B64F-43B2-B3E5-2599D8E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certified circuit uses only 24.18% of the control resources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A4EE356-7B31-40F2-9AC1-AEE96EC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4.1357×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E0EE1FDA-9272-48A1-864E-22225A2D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resource
reduction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411EDBF-317D-4F82-A862-D2C2DAC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−1.93M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AC5DB996-A6EB-465A-8D87-4446A9C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CNOT upper
bound saved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0744109E-F198-461F-B712-01CD0CF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CD824D1C-33A0-46B9-BF1A-7CB8AF5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970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exact ratio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Merged groups, bond propagators and the CNOT upper bound all scale by 11791/2851 under the unchanged compiler.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96db3c34c3430a"/>
          </a:graphicData>
        </a:graphic>
      </p:graphicFrame>
    </p:spTree>
    <p:extLst>
      <p:ext uri="{BB962C8B-B14F-4D97-AF65-F5344CB8AC3E}">
        <p14:creationId xmlns:p14="http://schemas.microsoft.com/office/powerpoint/2010/main" val="14437638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D16D588-ADBB-410D-9B7F-6E89C7ED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6BA68E6-11AA-4CC6-B882-93335FD3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is layered for both live demos and deep audit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244CA5E-0A1A-40C5-8EF6-FDBA31C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EC3F5CC-3F98-4E5E-8FA3-75829A4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4213DBE-9761-4153-AE63-7EE47A66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754ECDC-2E13-40E2-BC57-074A9C31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 · ~8 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0574877-9A81-45D2-AF3D-91CF7FBE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 · 167.6 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4082235-244A-4760-BF41-3586155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CLONE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649DE8E-75CD-46CC-A5AE-A8A487F1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Regenerate algebra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Rebuild every D4/D5 coefficient from the 31-stage formula.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50C242F-B810-46AB-BEC0-B808A04D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Reject corruption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Hashes, coverage, group algebra, ledger and integer resources.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3444C93-12CD-47AE-92EF-23447010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Reproduce delivery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 verify, focused tests and 11 SHA-256 checks all pass.</a:t>
            </a:r>
          </a:p>
        </p:txBody>
      </p:sp>
    </p:spTree>
    <p:extLst>
      <p:ext uri="{BB962C8B-B14F-4D97-AF65-F5344CB8AC3E}">
        <p14:creationId xmlns:p14="http://schemas.microsoft.com/office/powerpoint/2010/main" val="4034019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4D705D5-33B0-47CA-AC7F-49964F18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4.1357418449×
— proved, not inferred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3E46B97-0866-482C-9BF4-54FFA705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benchmark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95 pass · 94 fail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5× not claimed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52E643B-5166-4140-B71F-3040409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TAKEAWAY</a:t>
            </a:r>
          </a:p>
        </p:txBody>
      </p:sp>
    </p:spTree>
    <p:extLst>
      <p:ext uri="{BB962C8B-B14F-4D97-AF65-F5344CB8AC3E}">
        <p14:creationId xmlns:p14="http://schemas.microsoft.com/office/powerpoint/2010/main" val="797784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2026-07-30T21:17:16.4160000Z</dcterms:created>
  <dcterms:modified xsi:type="dcterms:W3CDTF">2026-07-30T21:17:16.4160000Z</dcterms:modified>
</coreProperties>
</file>